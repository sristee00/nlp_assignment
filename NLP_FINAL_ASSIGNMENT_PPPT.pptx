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4682-B4DA-46D6-9AA7-7C018BED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75" y="2152996"/>
            <a:ext cx="8212974" cy="2759825"/>
          </a:xfrm>
        </p:spPr>
        <p:txBody>
          <a:bodyPr anchor="t">
            <a:noAutofit/>
          </a:bodyPr>
          <a:lstStyle/>
          <a:p>
            <a:r>
              <a:rPr lang="en-US" b="1" i="0" dirty="0">
                <a:solidFill>
                  <a:srgbClr val="212121"/>
                </a:solidFill>
                <a:effectLst/>
                <a:latin typeface="Poppins" panose="00000500000000000000" pitchFamily="2" charset="0"/>
              </a:rPr>
              <a:t> Natural Language Processing and Network Analysis </a:t>
            </a:r>
            <a:br>
              <a:rPr lang="en-US" b="1" i="0" dirty="0">
                <a:solidFill>
                  <a:srgbClr val="212121"/>
                </a:solidFill>
                <a:effectLst/>
                <a:latin typeface="Poppins" panose="00000500000000000000" pitchFamily="2" charset="0"/>
              </a:rPr>
            </a:br>
            <a:br>
              <a:rPr lang="en-US" b="1" i="0" dirty="0">
                <a:solidFill>
                  <a:srgbClr val="212121"/>
                </a:solidFill>
                <a:effectLst/>
                <a:latin typeface="Poppins" panose="00000500000000000000" pitchFamily="2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E4A8C8-8226-4A56-8414-C240D16BC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6971" y="249380"/>
            <a:ext cx="1886560" cy="11139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04085-6C91-43AA-8C90-ABB53BD83C82}"/>
              </a:ext>
            </a:extLst>
          </p:cNvPr>
          <p:cNvSpPr txBox="1"/>
          <p:nvPr/>
        </p:nvSpPr>
        <p:spPr>
          <a:xfrm>
            <a:off x="5115931" y="568529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Members: Sristi Kulung Rai </a:t>
            </a:r>
          </a:p>
          <a:p>
            <a:r>
              <a:rPr lang="en-US" b="1" dirty="0"/>
              <a:t>                                Riya Pokharel </a:t>
            </a:r>
          </a:p>
          <a:p>
            <a:r>
              <a:rPr lang="en-US" b="1" dirty="0"/>
              <a:t>                                Amisha Magar </a:t>
            </a:r>
          </a:p>
        </p:txBody>
      </p:sp>
    </p:spTree>
    <p:extLst>
      <p:ext uri="{BB962C8B-B14F-4D97-AF65-F5344CB8AC3E}">
        <p14:creationId xmlns:p14="http://schemas.microsoft.com/office/powerpoint/2010/main" val="242627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1642"/>
            <a:ext cx="8229600" cy="42973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u="sng" dirty="0"/>
              <a:t>Problem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Political debates are large, complex text collections.</a:t>
            </a:r>
            <a:br>
              <a:rPr lang="en-US" dirty="0"/>
            </a:br>
            <a:r>
              <a:rPr lang="en-US" dirty="0"/>
              <a:t>It is difficult to 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speakers talk about which political topics</a:t>
            </a:r>
          </a:p>
          <a:p>
            <a:pPr marL="0" indent="0">
              <a:buNone/>
            </a:pPr>
            <a:r>
              <a:rPr lang="en-US" dirty="0"/>
              <a:t>Manually reading thousands of speeches is impossible. So we use LLM-based topic extraction + network analysis to discover patterns automatically.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467DE-8F30-4C4F-BA8A-059E6DF4454F}"/>
              </a:ext>
            </a:extLst>
          </p:cNvPr>
          <p:cNvSpPr txBox="1"/>
          <p:nvPr/>
        </p:nvSpPr>
        <p:spPr>
          <a:xfrm>
            <a:off x="49877" y="382385"/>
            <a:ext cx="86369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u="sng" dirty="0"/>
              <a:t>Research Question: </a:t>
            </a:r>
            <a:r>
              <a:rPr lang="en-US" sz="2800" dirty="0"/>
              <a:t>Which political issues do EU speakers focus on, and how are different speakers shared topics?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4162-600E-42A2-BBF2-890FBAA99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8927"/>
            <a:ext cx="8553796" cy="25062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u="sng" dirty="0"/>
              <a:t>Dataset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dirty="0"/>
              <a:t>We use the EU Debates dataset (HuggingFace), which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Speeches from European Parliament sessions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Speaker names, parties, and full text</a:t>
            </a:r>
          </a:p>
          <a:p>
            <a:pPr marL="0" indent="0">
              <a:buNone/>
            </a:pPr>
            <a:r>
              <a:rPr lang="en-US" sz="2000" dirty="0"/>
              <a:t>For our project, we selected a small subset of speeches (1000 ), cleaned the text, and extracted the main topic for each speech using an LLM.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CB070-FAC7-46B2-8E7C-9A024BD477DF}"/>
              </a:ext>
            </a:extLst>
          </p:cNvPr>
          <p:cNvSpPr txBox="1"/>
          <p:nvPr/>
        </p:nvSpPr>
        <p:spPr>
          <a:xfrm>
            <a:off x="386540" y="3629484"/>
            <a:ext cx="8296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EU Parliamentary Debates?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DEBE01A-4FB5-4D9C-92DB-FF61EC45B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275738"/>
            <a:ext cx="829610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and real-world political text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Rich structure: speakers, parties, English speeches (2019–2021)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Perfect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extraction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building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 analysis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Gained insight on the topics which was mostly talked about.</a:t>
            </a:r>
          </a:p>
        </p:txBody>
      </p:sp>
    </p:spTree>
    <p:extLst>
      <p:ext uri="{BB962C8B-B14F-4D97-AF65-F5344CB8AC3E}">
        <p14:creationId xmlns:p14="http://schemas.microsoft.com/office/powerpoint/2010/main" val="5585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 Raw debates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 Sampling and Cleaning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LLM-Based extraction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Structured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Knowledge Graph / Network construction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Network Analysis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Limitations of LLMs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0178"/>
          </a:xfrm>
        </p:spPr>
        <p:txBody>
          <a:bodyPr/>
          <a:lstStyle/>
          <a:p>
            <a:r>
              <a:rPr dirty="0"/>
              <a:t>Step 1 — LLM</a:t>
            </a:r>
            <a:r>
              <a:rPr lang="en-US" dirty="0"/>
              <a:t>-Based</a:t>
            </a:r>
            <a:r>
              <a:rPr dirty="0"/>
              <a:t>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3312"/>
            <a:ext cx="8229600" cy="47728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Model: </a:t>
            </a:r>
            <a:r>
              <a:rPr lang="en-US" dirty="0"/>
              <a:t>We used LLaMA 3 model through Groq for topic extraction.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pass each speech to an LLM and extract key structured elements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 topic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Entities (people, issues, policies)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Output format: JSON schema</a:t>
            </a:r>
          </a:p>
          <a:p>
            <a:pPr marL="457200" lvl="1" indent="0">
              <a:buNone/>
            </a:pPr>
            <a:r>
              <a:rPr dirty="0"/>
              <a:t>Example :</a:t>
            </a:r>
          </a:p>
          <a:p>
            <a:pPr lvl="1"/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{"speaker": "Victor Negrescu", </a:t>
            </a:r>
          </a:p>
          <a:p>
            <a:pPr lvl="1"/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"party": "S&amp;D",</a:t>
            </a:r>
          </a:p>
          <a:p>
            <a:pPr lvl="1"/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"topic": "Economy“}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dirty="0"/>
              <a:t>After extraction, we built a clean table with columns:</a:t>
            </a:r>
          </a:p>
          <a:p>
            <a:pPr marL="457200" lvl="1" indent="0">
              <a:buNone/>
            </a:pPr>
            <a:r>
              <a:rPr dirty="0"/>
              <a:t>• Speaker</a:t>
            </a:r>
          </a:p>
          <a:p>
            <a:pPr marL="457200" lvl="1" indent="0">
              <a:buNone/>
            </a:pPr>
            <a:r>
              <a:rPr dirty="0"/>
              <a:t>• Party</a:t>
            </a:r>
          </a:p>
          <a:p>
            <a:pPr marL="457200" lvl="1" indent="0">
              <a:buNone/>
            </a:pPr>
            <a:r>
              <a:rPr dirty="0"/>
              <a:t>• Topic</a:t>
            </a:r>
          </a:p>
          <a:p>
            <a:pPr marL="457200" lvl="1" indent="0">
              <a:buNone/>
            </a:pPr>
            <a:r>
              <a:rPr dirty="0"/>
              <a:t>This enables grouping and statistical summaries.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572" y="83128"/>
            <a:ext cx="8379228" cy="864524"/>
          </a:xfrm>
        </p:spPr>
        <p:txBody>
          <a:bodyPr>
            <a:normAutofit fontScale="90000"/>
          </a:bodyPr>
          <a:lstStyle/>
          <a:p>
            <a:r>
              <a:rPr dirty="0"/>
              <a:t>Step 3 — Knowledge Graph /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53" y="648393"/>
            <a:ext cx="8861367" cy="1645921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 marL="457200" lvl="1" indent="0">
              <a:buNone/>
            </a:pPr>
            <a:r>
              <a:rPr dirty="0"/>
              <a:t>• Bipartite graph: Speakers</a:t>
            </a:r>
            <a:r>
              <a:rPr lang="en-US" dirty="0"/>
              <a:t> to </a:t>
            </a:r>
            <a:r>
              <a:rPr dirty="0"/>
              <a:t>Topics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Nodes represent Speakers + Topics</a:t>
            </a:r>
            <a:endParaRPr dirty="0"/>
          </a:p>
          <a:p>
            <a:pPr marL="457200" lvl="1" indent="0">
              <a:buNone/>
            </a:pPr>
            <a:r>
              <a:rPr dirty="0"/>
              <a:t>• </a:t>
            </a:r>
            <a:r>
              <a:rPr lang="en-US" dirty="0"/>
              <a:t>Edges represent which speaker discusses which topic</a:t>
            </a:r>
          </a:p>
          <a:p>
            <a:pPr marL="457200" lvl="1" indent="0">
              <a:buNone/>
            </a:pPr>
            <a:endParaRPr dirty="0"/>
          </a:p>
          <a:p>
            <a:pPr marL="457200" lvl="1" indent="0">
              <a:buNone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951046-DE13-4B8E-BEE1-1A96DE05F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77" y="2294314"/>
            <a:ext cx="5209593" cy="43172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5" y="274638"/>
            <a:ext cx="8720050" cy="673013"/>
          </a:xfrm>
        </p:spPr>
        <p:txBody>
          <a:bodyPr>
            <a:normAutofit fontScale="90000"/>
          </a:bodyPr>
          <a:lstStyle/>
          <a:p>
            <a:r>
              <a:rPr dirty="0"/>
              <a:t>Step 4 — Network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59625"/>
            <a:ext cx="8562109" cy="216546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sz="1800" dirty="0"/>
              <a:t>• Degree centrality on topics</a:t>
            </a:r>
            <a:r>
              <a:rPr lang="en-US" sz="1800" dirty="0"/>
              <a:t> (It showed Topics mentioned by the most Speakers)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Central Topic: Economy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We used Networkx for calculation</a:t>
            </a:r>
          </a:p>
          <a:p>
            <a:pPr marL="457200" lvl="1" indent="0">
              <a:buNone/>
            </a:pPr>
            <a:endParaRPr sz="1800" dirty="0"/>
          </a:p>
          <a:p>
            <a:pPr marL="457200" lvl="1" indent="0">
              <a:buNone/>
            </a:pP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A6550-5076-4B10-8C6F-DC65B995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13" y="2626823"/>
            <a:ext cx="5939886" cy="3887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133" y="2028305"/>
            <a:ext cx="8774084" cy="3283528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Network Visualization and Analysis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Visualization method using spring layout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Color coding: blue for speakers, orange for topics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Central topics identified: Economy and Refugees most central, discussed across parties</a:t>
            </a: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61A6D0-95B9-4897-979E-15F4D348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34" y="274637"/>
            <a:ext cx="8229600" cy="1886671"/>
          </a:xfrm>
        </p:spPr>
        <p:txBody>
          <a:bodyPr>
            <a:noAutofit/>
          </a:bodyPr>
          <a:lstStyle/>
          <a:p>
            <a:pPr algn="l"/>
            <a:r>
              <a:rPr lang="en-US" sz="2800" u="sng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Key insights: </a:t>
            </a:r>
            <a:b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Economy and Refugees dominate discussions; Human Rights and Environment also important</a:t>
            </a:r>
            <a:b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258" y="399329"/>
            <a:ext cx="8229600" cy="1143000"/>
          </a:xfrm>
        </p:spPr>
        <p:txBody>
          <a:bodyPr/>
          <a:lstStyle/>
          <a:p>
            <a:r>
              <a:rPr dirty="0"/>
              <a:t>Conclusions &amp;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258" y="1778924"/>
            <a:ext cx="8387542" cy="4804438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LL</a:t>
            </a:r>
            <a:r>
              <a:rPr dirty="0"/>
              <a:t>Ms extract structure well but </a:t>
            </a:r>
            <a:r>
              <a:rPr lang="en-US" dirty="0"/>
              <a:t>was noisy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Topics sometimes were overlapping</a:t>
            </a:r>
          </a:p>
          <a:p>
            <a:pPr marL="457200" lvl="1" indent="0">
              <a:buNone/>
            </a:pPr>
            <a:endParaRPr dirty="0"/>
          </a:p>
          <a:p>
            <a:pPr marL="457200" lvl="1" indent="0">
              <a:buNone/>
            </a:pPr>
            <a:r>
              <a:rPr dirty="0"/>
              <a:t> </a:t>
            </a:r>
            <a:r>
              <a:rPr b="1" u="sng" dirty="0"/>
              <a:t>Questions:</a:t>
            </a:r>
            <a:endParaRPr lang="en-US" b="1" u="sng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 How stable are these patterns </a:t>
            </a:r>
            <a:r>
              <a:rPr lang="en-US" dirty="0"/>
              <a:t>across different LLM   model</a:t>
            </a:r>
            <a:r>
              <a:rPr dirty="0"/>
              <a:t>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 Would multi-label topics improve accuracy?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How </a:t>
            </a:r>
            <a:r>
              <a:rPr lang="en-US" dirty="0"/>
              <a:t>would the network look if we used more nodes types such as Parties, Years, Issues</a:t>
            </a:r>
            <a:r>
              <a:rPr dirty="0"/>
              <a:t>?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478</Words>
  <Application>Microsoft Office PowerPoint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Poppins</vt:lpstr>
      <vt:lpstr>Symbol</vt:lpstr>
      <vt:lpstr>Office Theme</vt:lpstr>
      <vt:lpstr> Natural Language Processing and Network Analysis   </vt:lpstr>
      <vt:lpstr>PowerPoint Presentation</vt:lpstr>
      <vt:lpstr>PowerPoint Presentation</vt:lpstr>
      <vt:lpstr>Pipeline Overview</vt:lpstr>
      <vt:lpstr>Step 1 — LLM-Based Extraction</vt:lpstr>
      <vt:lpstr>Step 2 — Structured Data</vt:lpstr>
      <vt:lpstr>Step 3 — Knowledge Graph / Network</vt:lpstr>
      <vt:lpstr>Step 4 — Network Analysis</vt:lpstr>
      <vt:lpstr>Key insights:  Economy and Refugees dominate discussions; Human Rights and Environment also important </vt:lpstr>
      <vt:lpstr>Conclusions &amp; Open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and Network Analysis</dc:title>
  <dc:subject/>
  <dc:creator>Acer Nitro 16</dc:creator>
  <cp:keywords/>
  <dc:description>generated using python-pptx</dc:description>
  <cp:lastModifiedBy>Sristi Kulung Rai</cp:lastModifiedBy>
  <cp:revision>2</cp:revision>
  <dcterms:created xsi:type="dcterms:W3CDTF">2013-01-27T09:14:16Z</dcterms:created>
  <dcterms:modified xsi:type="dcterms:W3CDTF">2025-11-13T17:43:06Z</dcterms:modified>
  <cp:category/>
</cp:coreProperties>
</file>